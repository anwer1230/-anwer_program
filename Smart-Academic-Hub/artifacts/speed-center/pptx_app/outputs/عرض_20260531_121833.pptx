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67EEA"/>
        </a:solidFill>
        <a:effectLst/>
      </p:bgPr>
    </p:bg>
    <p:spTree>
      <p:nvGrpSpPr>
        <p:cNvPr id="1" name=""/>
        <p:cNvGrpSpPr/>
        <p:nvPr/>
      </p:nvGrpSpPr>
      <p:grpSpPr/>
      <p:sp>
        <p:nvSpPr>
          <p:cNvPr id="2" name="Rectangle 1"/>
          <p:cNvSpPr/>
          <p:nvPr/>
        </p:nvSpPr>
        <p:spPr>
          <a:xfrm>
            <a:off x="0" y="0"/>
            <a:ext cx="12188952" cy="2011680"/>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828800" cy="1371600"/>
          </a:xfrm>
          <a:prstGeom prst="rect">
            <a:avLst/>
          </a:prstGeom>
          <a:noFill/>
        </p:spPr>
        <p:txBody>
          <a:bodyPr wrap="none">
            <a:spAutoFit/>
          </a:bodyPr>
          <a:lstStyle/>
          <a:p>
            <a:pPr algn="ctr"/>
            <a:r>
              <a:rPr sz="5200"/>
              <a:t>📊</a:t>
            </a:r>
          </a:p>
        </p:txBody>
      </p:sp>
      <p:sp>
        <p:nvSpPr>
          <p:cNvPr id="4" name="TextBox 3"/>
          <p:cNvSpPr txBox="1"/>
          <p:nvPr/>
        </p:nvSpPr>
        <p:spPr>
          <a:xfrm>
            <a:off x="914400" y="2286000"/>
            <a:ext cx="10332720" cy="1645920"/>
          </a:xfrm>
          <a:prstGeom prst="rect">
            <a:avLst/>
          </a:prstGeom>
          <a:noFill/>
        </p:spPr>
        <p:txBody>
          <a:bodyPr wrap="square">
            <a:spAutoFit/>
          </a:bodyPr>
          <a:lstStyle/>
          <a:p>
            <a:pPr algn="ctr" rtl="1"/>
            <a:r>
              <a:rPr sz="4200" b="1">
                <a:solidFill>
                  <a:srgbClr val="FFFFFF"/>
                </a:solidFill>
                <a:latin typeface="Traditional Arabic"/>
                <a:cs typeface="Traditional Arabic"/>
                <a:ea typeface="Traditional Arabic"/>
              </a:rPr>
              <a:t>ترجم للعربي  Abstract  The rapid growth of e-commerce has significantly transformed consumer purchasing behavior, particularly among university students who are highly engaged with digital technologies. Despite the increasing use of online shopping platforms in Oman, limited research has examined how consumer motivation influences online shopping behavior, especially among University of Nizwa students. This study aims to examine the influence of consumer motivation on online shopping behavior, focusing on utilitarian motivation (convenience and efficiency) and hedonic motivation (enjoyment and entertainment). A quantitative research approach was adopted, and data were collected through a structured questionnaire distributed to students with prior online shopping experience. The data were analyzed using statistical methods to determine the relationship between consumer motivation and online shopping behavior. The findings are expected to provide valuable insights for online retailers and marketers by helping them better understand the motivations that influence students’ purchasing decisions. In addition, the study contributes to the limited body of academic research within the Omani context.           Introduction Over the past few years, the way consumers shop has changed significantly due to rapid technological development and the expansion of e-commerce. Online shopping allows consumers to purchase products and services through websites, mobile applications, and social media platforms without the need to visit physical stores. This has led to a shift from traditional shopping methods to digital purchasing behavior. In Oman, e-commerce has experienced notable growth, particularly following the COVID-19 pandemic. Many consumers now rely on online platforms, such as food delivery applications and online retail websites, as part of their daily lives. This shift highlights the importance of understanding consumer behavior in online shopping environments. Understanding consumer behavior in digital markets is essential for businesses aiming to remain competitive. In particular, identifying what motivates consumers to shop online and how these motivations influence their purchasing decisions is critical. Without such understanding, businesses may face challenges in attracting and retaining customers. Therefore, this study aims to investigate online shopping behavior among University of Nizwa students by focusing on consumer motivation as the primary influencing factor. By examining different motivational factors, this study seeks to provide insights that can enhance online shopping experiences and improve understanding of students’ purchasing behavior in Oman.         Introduction Background of the Study Online shopping has become an essential aspect of modern consumer behavior due to its convenience, accessibility, and wide range of product offerings. Consumers are increasingly shifting from traditional shopping methods to digital platforms, which allow them to compare prices, access product information, and complete purchases efficiently. Consumer motivation plays a significant role in shaping online shopping behavior. Motivational factors such as convenience, efficiency, enjoyment, and entertainment influence how and why consumers engage in online purchasing activities. These motivations can be broadly categorized into utilitarian and hedonic motivations. Understanding these motivational factors is particularly important in the context of university students, who are active users of digital technologies and online platforms. Therefore, this study focuses on University of Nizwa students to examine how their motivations influence their online shopping behavior and decision-making processes. Statement of the Problem Despite the rapid growth of online shopping in Oman, there is limited research examining the factors that motivate university students to engage in online purchasing. Businesses continue to invest in digital platforms without fully understanding what drives students’ online shopping behavior. This lack of understanding may limit the ability of online retailers to develop effective strategies to attract and retain university students as customers. As a result, it becomes essential to investigate the role of consumer motivation in shaping online shopping behavior among University of Nizwa students. This study aims to address this gap by examining how different types of consumer motivation influence students’ online purchasing decisions.   Research Objectives •	To identify the main motivational factors influencing University of Nizwa students to shop online. •	To examine online shopping behavior among University of Nizwa students. Research Questions •	What motivates University of Nizwa students to shop online? •	What is the nature of online shopping behavior among University of Nizwa students? Significance of the Study This study contributes to the field of e-commerce by enhancing understanding of consumer behavior in online shopping environments. It examines how consumer motivation shapes online shopping patterns by exploring the psychological factors that influence students’ purchasing decisions. The findings of this study are expected to benefit multiple stakeholders. Online retailers and marketers can use the results to better understand the motivations that influence university students’ purchasing behavior, enabling them to design more effective marketing strategies and promotional campaigns. In addition, the study can help businesses improve their digital platforms to better meet the needs of young consumers. From an academic perspective, this research contributes to the existing literature by providing empirical evidence on consumer motivation and online shopping behavior within the Omani context, which has received limited attention in previous studies. Furthermore, the study is significant because it focuses specifically on University of Nizwa students, a group that has not been widely examined in prior research. Understanding their motivations can support the development of more targeted and effective e-commerce strategies in the region. Scope of the Study This study examines how consumer motivation influences online shopping behavior among University of Nizwa students. It focuses on motivational factors such as convenience, efficiency, and enjoyment, and how these factors affect students’ engagement in online purchasing activities. The study is limited to students at the University of Nizwa and does not include students from other universities or the general population in Oman. Data are collected using a questionnaire distributed to students who have prior experience with online shopping. The study considers consumer motivation as the independent variable and online shopping behavior as the dependent variable. Other factors such as trust, perceived risk, and website quality are not included in this study.             Literature review  Related literature Introduction  The worldwide retail sector has undergone substantial changes because of the fast development of digital technology together with improved internet access. Online shopping has developed into a widely used purchasing method which enables customers to search through products and check different prices and make purchases through online systems. The growing importance of online shopping requires businesses and researchers to understand how consumers behave when using online platforms. Psychological and technological and environmental elements together create the framework which determines how consumers behave when they shop online. Between these elements consumer motivation serves as the main driving force which determines how people will make their buying choices. Motivation describes the internal forces which drive consumers to engage with online shopping activities. Consumers may be motivated by practical benefits such as convenience and efficiency or by emotional factors such as enjoyment and entertainment during the shopping experience. University students form a significant group of online shoppers because they typically use digital technologies and spend time on various online platforms. Their knowledge of smartphones and social media platforms together with their understanding of internet services makes them more likely to shop online than any other consumer group. Understanding the motivational factors that influence their online shopping behavior is therefore essential. The chapter evaluates current research about online shopping behavior together with consumer motivation and the elements which affect digital buying decisions. The chapter reviews earlier research which examined how university students shop online in specific regional areas. The chapter ends with an identification of research gaps which demonstrate the need for the current research.  2.1 Online Shopping Behavior  General online shopping behavior Online shopping behavior has attracted increasing academic attention due to the rapid development of e-commerce platforms and digital technologies (Gefen et al., 2003; Pavlou, 2003). Online shopping allows consumers to purchase products through internet-based platforms, offering convenience, flexibility, and access to a wide range of products (Childers et al., 2001). Studies suggest that consumers’ perceptions, attitudes, and access to technology significantly influence their engagement in online purchasing activities (Davis, 1989; Venkatesh et al., 2003). These factors shape consumers’ willingness to adopt online platforms and participate in digital retail environments. Understanding these behavioral patterns is essential for explaining how consumers interact with online marketplaces and how digital technologies influence purchasing decisions. Online retail environment and decision making Consumer motivations for online shopping often include convenience, price comparison, and product variety. These motivations allow consumers to make informed purchasing decisions and obtain better value for their purchases. Bagdoniene and Zemblyte (2009) found that online shoppers are motivated by the ability to access a wide range of products and compare prices easily across different platforms. These benefits make online shopping an attractive alternative to traditional retail shopping.  Product information and comparison in online shopping Consumer behavior in online environments is influenced by the availability of product information and the ability to compare alternatives easily (Alba et al., 1997; Bakos, 1997). Online retail platforms provide consumers with detailed descriptions, reviews, and pricing comparisons that help them make more informed purchasing decisions (Chen &amp; Xie, 2008). These features reduce uncertainty in the purchasing process and increase consumers’ confidence in online transactions (Pavlou, 2003).   Attitudes toward online shopping Attitudes toward online shopping significantly influence consumers’ purchasing intentions (Ajzen, 1991; Pavlou, 2003). Consumers who perceive online platforms as reliable, convenient, and efficient are more likely to engage in online purchasing behavior. Positive attitudes toward online retail environments encourage consumers to adopt e-commerce platforms as part of their regular shopping activities. Advantages of online shopping platforms Online shopping platforms provide consumers with numerous advantages compared to traditional retail stores (Laudon &amp; Traver, 2021). These advantages include access to global markets, price comparison tools, and flexible purchasing options (Turban et al., 2018). Such benefits motivate consumers to explore online platforms and increase their engagement with digital retail environments.  2.2 Consumer Motivation Consumer motivation in purchasing Consumer motivation plays a significant role in shaping purchasing decisions in online environments (Schiffman &amp; Kanuk, 2010). Motivation refers to the internal forces that drive individuals to perform certain behaviors in order to satisfy their needs and desires (Solomon, 2018). In the context of online shopping, consumers are motivated by factors such as convenience, time saving, product variety, and accessibility (Rohm &amp; Swinney, 2004; Childers et al., 2001). These motivations encourage consumers to adopt online shopping platforms and influence their purchasing decisions. When consumers perceive online shopping as beneficial and efficient, they are more likely to engage in online purchasing activities (Davis, 1989). Motivation theory in consumer behavior Motivation can also be explained through psychological theories of consumer behavior. According to motivation theory, individuals are driven by internal needs and desires that influence their actions (Maslow, 1943; Deci &amp; Ryan, 1985). In purchasing contexts, consumers may be motivated by functional needs such as convenience and efficiency, as well as emotional factors such as enjoyment and satisfaction during the shopping process. Intrinsic vs extrinsic motivation Self-determination theory explains that human behavior is influenced by intrinsic and extrinsic motivations (Vallerand, 1997; Amabile, 1993). Intrinsic motivation refers to engaging in an activity because it is enjoyable, while extrinsic motivation involves performing an activity to obtain external rewards. In online shopping contexts, consumers may be intrinsically motivated by the enjoyment of browsing products, while extrinsic motivations include benefits such as discounts, promotions, and convenience. Motivation and digital behavior Online consumer behavior is also shaped by technological familiarity and digital literacy (Davis, 1989; Venkatesh et al., 2003). Individuals who frequently use digital devices and internet platforms are more comfortable engaging in online shopping activities. As internet access continues to expand globally, consumers are increasingly adopting digital platforms for purchasing goods and services (International Telecommunication Union, 2022). Hedonic and utilitarian motivation (Childers et al., 2001) Online shopping behavior can also be explained through the distinction between utilitarian and hedonic motivations. Utilitarian motivation focuses on practical benefits such as efficiency and convenience, while hedonic motivation relates to enjoyment and entertainment during the shopping experience. Childers et al. (2001) demonstrated that both types of motivation influence consumers’ attitudes toward online retail platforms and significantly affect their purchasing behavior. 2.3 Factors Influencing Online Shopping  Ease of use (Technology Acceptance Model) Ease of use is a crucial determinant of technology adoption in online shopping environments. According to Gefen and Straub (2000), the Technology Acceptance Model explains that perceived ease of use and perceived usefulness strongly influence individuals’ willingness to adopt information systems. In online shopping contexts, consumers are more likely to engage with websites that are easy to navigate and provide a simple purchasing process. When online platforms are user-friendly, consumers develop more positive attitudes toward online shopping and are more likely to complete transactions.  Customer satisfaction in online shopping Customer satisfaction is another important factor influencing online shopping behavior. Abdeldayem (2016) emphasized that consumers’ satisfaction with online retail platforms significantly affects their intention to continue purchasing products through digital channels. Factors such as product information quality, delivery efficiency, and website design contribute to consumers’ overall satisfaction with online shopping experiences. Positive experiences encourage repeat purchasing behavior and increase consumers’ loyalty toward online retailers.  Technology and e-commerce development The rapid growth of e-commerce has transformed traditional retail systems and consumer purchasing patterns. Online platforms allow consumers to access information, compare products, and make purchases from virtually any location. According to Raji et al. (2023), technological advancements and artificial intelligence tools have enhanced the online shopping experience by improving personalization and product recommendations. These developments increase consumer engagement and encourage users to interact more frequently with digital retail platforms, thereby influencing their online purchasing behavior. 2.4 Online Shopping Among University Students  University students and online shopping behavior University students represent one of the most active groups of online shoppers due to their high exposure to digital technologies and internet-based platforms. Research examining university students’ online shopping behavior indicates that convenience, time efficiency, and product availability significantly influence their purchasing decisions. Farah et al. (2018) found that university students frequently rely on online platforms because they provide easy access to products and services while reducing the need for physical shopping. Their familiarity with digital technology increases their confidence in using online retail platforms.  Research Gap  The current literature still has gaps despite earlier studies which analyzed online shopping behavior together with the factors that drive consumer purchasing decisions. Online shopping research has concentrated on three areas namely consumer behavior during online shopping, the effect of technology on shopping preferences and how different demographic groups shop online. Online retail research has examined psychological drivers which include both hedonic and utilitarian shopping tendencies. Most research studies see online consumer behavior at the general population level which includes all online users instead of university student research. Middle Eastern research studies which include research from Oman have studied online shopping behavior through trust and perceived risk and technology acceptance as their key factors. Omani university students show online shopping activities which need research to understand how their motivation as consumers. University students represent an important consumer segment because they use online platforms and digital technologies all the time. Research needs to explore how consumer motivation impacts online shopping behavior of university students in Oman who study at the University of Nizwa. This research will reveal how students choose to shop online which helps businesses and marketers who target young digital consumers.          Research methodology Introduction This chapter presents the research methodology used in the study. It describes the research design, population, sampling technique, data collection process, and data analysis methods. The purpose of this chapter is to provide a clear explanation of how the study was conducted. This study investigates how consumer motivation influences online shopping behavior among University of Nizwa students. A quantitative research approach was adopted, as it allows for the collection of numerical data and facilitates the analysis of relationships between variables. Data were collected using a structured questionnaire distributed to students with prior online shopping experience. Research Design This study adopts a quantitative research design to examine the relationship between consumer motivation and online shopping behavior. A questionnaire was used as the primary data collection tool to gather responses from students at the University of Nizwa. Research Population The population of this study consists of University of Nizwa students who have experience with online shopping through websites, mobile applications, or social media platforms. To ensure that participants meet this criterion, a screening question was included at the beginning of the questionnaire asking whether the respondent has previously purchased a product online. Only students who answered “Yes” were allowed to continue with the survey. This ensured that the data collected were relevant to the study.      Sampling Technique Simple random sampling was employed using student lists obtained from the university to ensure that each student had an equal chance of being selected. Sample Size The sample size was determined using the Krejcie and Morgan (1970) formula. Based on a population of approximately 13,500 University of Nizwa students, a confidence level of 95%, and a margin of error of 5%, the required sample size was calculated to be 374 respondents. This sample size is considered sufficient to represent the population and ensure reliable results. Data Analysis Method The collected data were analyzed using descriptive statistical methods. This included the use of frequencies and percentages to summarize responses and identify patterns in online shopping behavior. Mean scores were calculated for Likert scale items to determine the most influential motivational factors. The results were presented using tables and graphs for clarity. Where necessary, comparisons between different groups (such as frequent and occasional online shoppers) were conducted to identify variations in behavior. Conclusion  This study examines the influence of consumer motivation on online shopping behavior among University of Nizwa students. By identifying key motivational factors, the research provides insights into students’ online purchasing patterns. The findings are expected to support online retailers and marketers in developing strategies that better align with the needs and preferences of university students. Additionally, the study contributes to the growing body of research on e-commerce in Oman by providing context-specific insights into consumer behavior.</a:t>
            </a:r>
          </a:p>
        </p:txBody>
      </p:sp>
      <p:sp>
        <p:nvSpPr>
          <p:cNvPr id="5" name="Rectangle 4"/>
          <p:cNvSpPr/>
          <p:nvPr/>
        </p:nvSpPr>
        <p:spPr>
          <a:xfrm>
            <a:off x="3200400" y="5029200"/>
            <a:ext cx="5760720" cy="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94960"/>
            <a:ext cx="10332720" cy="640080"/>
          </a:xfrm>
          <a:prstGeom prst="rect">
            <a:avLst/>
          </a:prstGeom>
          <a:noFill/>
        </p:spPr>
        <p:txBody>
          <a:bodyPr wrap="square">
            <a:spAutoFit/>
          </a:bodyPr>
          <a:lstStyle/>
          <a:p>
            <a:pPr algn="ctr" rtl="1"/>
            <a:r>
              <a:rPr sz="1600" b="0">
                <a:solidFill>
                  <a:srgbClr val="C8C8E6"/>
                </a:solidFill>
                <a:latin typeface="Traditional Arabic"/>
                <a:cs typeface="Traditional Arabic"/>
                <a:ea typeface="Traditional Arabic"/>
              </a:rPr>
              <a:t>٣١‏/٥‏/٢٠٢٦</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667EEA"/>
        </a:solidFill>
        <a:effectLst/>
      </p:bgPr>
    </p:bg>
    <p:spTree>
      <p:nvGrpSpPr>
        <p:cNvPr id="1" name=""/>
        <p:cNvGrpSpPr/>
        <p:nvPr/>
      </p:nvGrpSpPr>
      <p:grpSpPr/>
      <p:sp>
        <p:nvSpPr>
          <p:cNvPr id="2" name="Rectangle 1"/>
          <p:cNvSpPr/>
          <p:nvPr/>
        </p:nvSpPr>
        <p:spPr>
          <a:xfrm>
            <a:off x="0" y="6217920"/>
            <a:ext cx="12188952" cy="640080"/>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645920"/>
          </a:xfrm>
          <a:prstGeom prst="rect">
            <a:avLst/>
          </a:prstGeom>
          <a:noFill/>
        </p:spPr>
        <p:txBody>
          <a:bodyPr wrap="square">
            <a:spAutoFit/>
          </a:bodyPr>
          <a:lstStyle/>
          <a:p>
            <a:pPr algn="ctr" rtl="1"/>
            <a:r>
              <a:rPr sz="4400" b="1">
                <a:solidFill>
                  <a:srgbClr val="FFFFFF"/>
                </a:solidFill>
                <a:latin typeface="Traditional Arabic"/>
                <a:cs typeface="Traditional Arabic"/>
                <a:ea typeface="Traditional Arabic"/>
              </a:rPr>
              <a:t>ترجم للعربي  Abstract  The rapid growth of e-commerce has significantly transformed consumer purchasing behavior, particularly among university students who are highly engaged with digital technologies. Despite the increasing use of online shopping platforms in Oman, limited research has examined how consumer motivation influences online shopping behavior, especially among University of Nizwa students. This study aims to examine the influence of consumer motivation on online shopping behavior, focusing on utilitarian motivation (convenience and efficiency) and hedonic motivation (enjoyment and entertainment). A quantitative research approach was adopted, and data were collected through a structured questionnaire distributed to students with prior online shopping experience. The data were analyzed using statistical methods to determine the relationship between consumer motivation and online shopping behavior. The findings are expected to provide valuable insights for online retailers and marketers by helping them better understand the motivations that influence students’ purchasing decisions. In addition, the study contributes to the limited body of academic research within the Omani context.           Introduction Over the past few years, the way consumers shop has changed significantly due to rapid technological development and the expansion of e-commerce. Online shopping allows consumers to purchase products and services through websites, mobile applications, and social media platforms without the need to visit physical stores. This has led to a shift from traditional shopping methods to digital purchasing behavior. In Oman, e-commerce has experienced notable growth, particularly following the COVID-19 pandemic. Many consumers now rely on online platforms, such as food delivery applications and online retail websites, as part of their daily lives. This shift highlights the importance of understanding consumer behavior in online shopping environments. Understanding consumer behavior in digital markets is essential for businesses aiming to remain competitive. In particular, identifying what motivates consumers to shop online and how these motivations influence their purchasing decisions is critical. Without such understanding, businesses may face challenges in attracting and retaining customers. Therefore, this study aims to investigate online shopping behavior among University of Nizwa students by focusing on consumer motivation as the primary influencing factor. By examining different motivational factors, this study seeks to provide insights that can enhance online shopping experiences and improve understanding of students’ purchasing behavior in Oman.         Introduction Background of the Study Online shopping has become an essential aspect of modern consumer behavior due to its convenience, accessibility, and wide range of product offerings. Consumers are increasingly shifting from traditional shopping methods to digital platforms, which allow them to compare prices, access product information, and complete purchases efficiently. Consumer motivation plays a significant role in shaping online shopping behavior. Motivational factors such as convenience, efficiency, enjoyment, and entertainment influence how and why consumers engage in online purchasing activities. These motivations can be broadly categorized into utilitarian and hedonic motivations. Understanding these motivational factors is particularly important in the context of university students, who are active users of digital technologies and online platforms. Therefore, this study focuses on University of Nizwa students to examine how their motivations influence their online shopping behavior and decision-making processes. Statement of the Problem Despite the rapid growth of online shopping in Oman, there is limited research examining the factors that motivate university students to engage in online purchasing. Businesses continue to invest in digital platforms without fully understanding what drives students’ online shopping behavior. This lack of understanding may limit the ability of online retailers to develop effective strategies to attract and retain university students as customers. As a result, it becomes essential to investigate the role of consumer motivation in shaping online shopping behavior among University of Nizwa students. This study aims to address this gap by examining how different types of consumer motivation influence students’ online purchasing decisions.   Research Objectives •	To identify the main motivational factors influencing University of Nizwa students to shop online. •	To examine online shopping behavior among University of Nizwa students. Research Questions •	What motivates University of Nizwa students to shop online? •	What is the nature of online shopping behavior among University of Nizwa students? Significance of the Study This study contributes to the field of e-commerce by enhancing understanding of consumer behavior in online shopping environments. It examines how consumer motivation shapes online shopping patterns by exploring the psychological factors that influence students’ purchasing decisions. The findings of this study are expected to benefit multiple stakeholders. Online retailers and marketers can use the results to better understand the motivations that influence university students’ purchasing behavior, enabling them to design more effective marketing strategies and promotional campaigns. In addition, the study can help businesses improve their digital platforms to better meet the needs of young consumers. From an academic perspective, this research contributes to the existing literature by providing empirical evidence on consumer motivation and online shopping behavior within the Omani context, which has received limited attention in previous studies. Furthermore, the study is significant because it focuses specifically on University of Nizwa students, a group that has not been widely examined in prior research. Understanding their motivations can support the development of more targeted and effective e-commerce strategies in the region. Scope of the Study This study examines how consumer motivation influences online shopping behavior among University of Nizwa students. It focuses on motivational factors such as convenience, efficiency, and enjoyment, and how these factors affect students’ engagement in online purchasing activities. The study is limited to students at the University of Nizwa and does not include students from other universities or the general population in Oman. Data are collected using a questionnaire distributed to students who have prior experience with online shopping. The study considers consumer motivation as the independent variable and online shopping behavior as the dependent variable. Other factors such as trust, perceived risk, and website quality are not included in this study.             Literature review  Related literature Introduction  The worldwide retail sector has undergone substantial changes because of the fast development of digital technology together with improved internet access. Online shopping has developed into a widely used purchasing method which enables customers to search through products and check different prices and make purchases through online systems. The growing importance of online shopping requires businesses and researchers to understand how consumers behave when using online platforms. Psychological and technological and environmental elements together create the framework which determines how consumers behave when they shop online. Between these elements consumer motivation serves as the main driving force which determines how people will make their buying choices. Motivation describes the internal forces which drive consumers to engage with online shopping activities. Consumers may be motivated by practical benefits such as convenience and efficiency or by emotional factors such as enjoyment and entertainment during the shopping experience. University students form a significant group of online shoppers because they typically use digital technologies and spend time on various online platforms. Their knowledge of smartphones and social media platforms together with their understanding of internet services makes them more likely to shop online than any other consumer group. Understanding the motivational factors that influence their online shopping behavior is therefore essential. The chapter evaluates current research about online shopping behavior together with consumer motivation and the elements which affect digital buying decisions. The chapter reviews earlier research which examined how university students shop online in specific regional areas. The chapter ends with an identification of research gaps which demonstrate the need for the current research.  2.1 Online Shopping Behavior  General online shopping behavior Online shopping behavior has attracted increasing academic attention due to the rapid development of e-commerce platforms and digital technologies (Gefen et al., 2003; Pavlou, 2003). Online shopping allows consumers to purchase products through internet-based platforms, offering convenience, flexibility, and access to a wide range of products (Childers et al., 2001). Studies suggest that consumers’ perceptions, attitudes, and access to technology significantly influence their engagement in online purchasing activities (Davis, 1989; Venkatesh et al., 2003). These factors shape consumers’ willingness to adopt online platforms and participate in digital retail environments. Understanding these behavioral patterns is essential for explaining how consumers interact with online marketplaces and how digital technologies influence purchasing decisions. Online retail environment and decision making Consumer motivations for online shopping often include convenience, price comparison, and product variety. These motivations allow consumers to make informed purchasing decisions and obtain better value for their purchases. Bagdoniene and Zemblyte (2009) found that online shoppers are motivated by the ability to access a wide range of products and compare prices easily across different platforms. These benefits make online shopping an attractive alternative to traditional retail shopping.  Product information and comparison in online shopping Consumer behavior in online environments is influenced by the availability of product information and the ability to compare alternatives easily (Alba et al., 1997; Bakos, 1997). Online retail platforms provide consumers with detailed descriptions, reviews, and pricing comparisons that help them make more informed purchasing decisions (Chen &amp; Xie, 2008). These features reduce uncertainty in the purchasing process and increase consumers’ confidence in online transactions (Pavlou, 2003).   Attitudes toward online shopping Attitudes toward online shopping significantly influence consumers’ purchasing intentions (Ajzen, 1991; Pavlou, 2003). Consumers who perceive online platforms as reliable, convenient, and efficient are more likely to engage in online purchasing behavior. Positive attitudes toward online retail environments encourage consumers to adopt e-commerce platforms as part of their regular shopping activities. Advantages of online shopping platforms Online shopping platforms provide consumers with numerous advantages compared to traditional retail stores (Laudon &amp; Traver, 2021). These advantages include access to global markets, price comparison tools, and flexible purchasing options (Turban et al., 2018). Such benefits motivate consumers to explore online platforms and increase their engagement with digital retail environments.  2.2 Consumer Motivation Consumer motivation in purchasing Consumer motivation plays a significant role in shaping purchasing decisions in online environments (Schiffman &amp; Kanuk, 2010). Motivation refers to the internal forces that drive individuals to perform certain behaviors in order to satisfy their needs and desires (Solomon, 2018). In the context of online shopping, consumers are motivated by factors such as convenience, time saving, product variety, and accessibility (Rohm &amp; Swinney, 2004; Childers et al., 2001). These motivations encourage consumers to adopt online shopping platforms and influence their purchasing decisions. When consumers perceive online shopping as beneficial and efficient, they are more likely to engage in online purchasing activities (Davis, 1989). Motivation theory in consumer behavior Motivation can also be explained through psychological theories of consumer behavior. According to motivation theory, individuals are driven by internal needs and desires that influence their actions (Maslow, 1943; Deci &amp; Ryan, 1985). In purchasing contexts, consumers may be motivated by functional needs such as convenience and efficiency, as well as emotional factors such as enjoyment and satisfaction during the shopping process. Intrinsic vs extrinsic motivation Self-determination theory explains that human behavior is influenced by intrinsic and extrinsic motivations (Vallerand, 1997; Amabile, 1993). Intrinsic motivation refers to engaging in an activity because it is enjoyable, while extrinsic motivation involves performing an activity to obtain external rewards. In online shopping contexts, consumers may be intrinsically motivated by the enjoyment of browsing products, while extrinsic motivations include benefits such as discounts, promotions, and convenience. Motivation and digital behavior Online consumer behavior is also shaped by technological familiarity and digital literacy (Davis, 1989; Venkatesh et al., 2003). Individuals who frequently use digital devices and internet platforms are more comfortable engaging in online shopping activities. As internet access continues to expand globally, consumers are increasingly adopting digital platforms for purchasing goods and services (International Telecommunication Union, 2022). Hedonic and utilitarian motivation (Childers et al., 2001) Online shopping behavior can also be explained through the distinction between utilitarian and hedonic motivations. Utilitarian motivation focuses on practical benefits such as efficiency and convenience, while hedonic motivation relates to enjoyment and entertainment during the shopping experience. Childers et al. (2001) demonstrated that both types of motivation influence consumers’ attitudes toward online retail platforms and significantly affect their purchasing behavior. 2.3 Factors Influencing Online Shopping  Ease of use (Technology Acceptance Model) Ease of use is a crucial determinant of technology adoption in online shopping environments. According to Gefen and Straub (2000), the Technology Acceptance Model explains that perceived ease of use and perceived usefulness strongly influence individuals’ willingness to adopt information systems. In online shopping contexts, consumers are more likely to engage with websites that are easy to navigate and provide a simple purchasing process. When online platforms are user-friendly, consumers develop more positive attitudes toward online shopping and are more likely to complete transactions.  Customer satisfaction in online shopping Customer satisfaction is another important factor influencing online shopping behavior. Abdeldayem (2016) emphasized that consumers’ satisfaction with online retail platforms significantly affects their intention to continue purchasing products through digital channels. Factors such as product information quality, delivery efficiency, and website design contribute to consumers’ overall satisfaction with online shopping experiences. Positive experiences encourage repeat purchasing behavior and increase consumers’ loyalty toward online retailers.  Technology and e-commerce development The rapid growth of e-commerce has transformed traditional retail systems and consumer purchasing patterns. Online platforms allow consumers to access information, compare products, and make purchases from virtually any location. According to Raji et al. (2023), technological advancements and artificial intelligence tools have enhanced the online shopping experience by improving personalization and product recommendations. These developments increase consumer engagement and encourage users to interact more frequently with digital retail platforms, thereby influencing their online purchasing behavior. 2.4 Online Shopping Among University Students  University students and online shopping behavior University students represent one of the most active groups of online shoppers due to their high exposure to digital technologies and internet-based platforms. Research examining university students’ online shopping behavior indicates that convenience, time efficiency, and product availability significantly influence their purchasing decisions. Farah et al. (2018) found that university students frequently rely on online platforms because they provide easy access to products and services while reducing the need for physical shopping. Their familiarity with digital technology increases their confidence in using online retail platforms.  Research Gap  The current literature still has gaps despite earlier studies which analyzed online shopping behavior together with the factors that drive consumer purchasing decisions. Online shopping research has concentrated on three areas namely consumer behavior during online shopping, the effect of technology on shopping preferences and how different demographic groups shop online. Online retail research has examined psychological drivers which include both hedonic and utilitarian shopping tendencies. Most research studies see online consumer behavior at the general population level which includes all online users instead of university student research. Middle Eastern research studies which include research from Oman have studied online shopping behavior through trust and perceived risk and technology acceptance as their key factors. Omani university students show online shopping activities which need research to understand how their motivation as consumers. University students represent an important consumer segment because they use online platforms and digital technologies all the time. Research needs to explore how consumer motivation impacts online shopping behavior of university students in Oman who study at the University of Nizwa. This research will reveal how students choose to shop online which helps businesses and marketers who target young digital consumers.          Research methodology Introduction This chapter presents the research methodology used in the study. It describes the research design, population, sampling technique, data collection process, and data analysis methods. The purpose of this chapter is to provide a clear explanation of how the study was conducted. This study investigates how consumer motivation influences online shopping behavior among University of Nizwa students. A quantitative research approach was adopted, as it allows for the collection of numerical data and facilitates the analysis of relationships between variables. Data were collected using a structured questionnaire distributed to students with prior online shopping experience. Research Design This study adopts a quantitative research design to examine the relationship between consumer motivation and online shopping behavior. A questionnaire was used as the primary data collection tool to gather responses from students at the University of Nizwa. Research Population The population of this study consists of University of Nizwa students who have experience with online shopping through websites, mobile applications, or social media platforms. To ensure that participants meet this criterion, a screening question was included at the beginning of the questionnaire asking whether the respondent has previously purchased a product online. Only students who answered “Yes” were allowed to continue with the survey. This ensured that the data collected were relevant to the study.      Sampling Technique Simple random sampling was employed using student lists obtained from the university to ensure that each student had an equal chance of being selected. Sample Size The sample size was determined using the Krejcie and Morgan (1970) formula. Based on a population of approximately 13,500 University of Nizwa students, a confidence level of 95%, and a margin of error of 5%, the required sample size was calculated to be 374 respondents. This sample size is considered sufficient to represent the population and ensure reliable results. Data Analysis Method The collected data were analyzed using descriptive statistical methods. This included the use of frequencies and percentages to summarize responses and identify patterns in online shopping behavior. Mean scores were calculated for Likert scale items to determine the most influential motivational factors. The results were presented using tables and graphs for clarity. Where necessary, comparisons between different groups (such as frequent and occasional online shoppers) were conducted to identify variations in behavior. Conclusion  This study examines the influence of consumer motivation on online shopping behavior among University of Nizwa students. By identifying key motivational factors, the research provides insights into students’ online purchasing patterns. The findings are expected to support online retailers and marketers in developing strategies that better align with the needs and preferences of university students. Additionally, the study contributes to the growing body of research on e-commerce in Oman by providing context-specific insights into consumer behavior.</a:t>
            </a:r>
          </a:p>
        </p:txBody>
      </p:sp>
      <p:sp>
        <p:nvSpPr>
          <p:cNvPr id="4" name="TextBox 3"/>
          <p:cNvSpPr txBox="1"/>
          <p:nvPr/>
        </p:nvSpPr>
        <p:spPr>
          <a:xfrm>
            <a:off x="1828800" y="3840480"/>
            <a:ext cx="8503920" cy="914400"/>
          </a:xfrm>
          <a:prstGeom prst="rect">
            <a:avLst/>
          </a:prstGeom>
          <a:noFill/>
        </p:spPr>
        <p:txBody>
          <a:bodyPr wrap="square">
            <a:spAutoFit/>
          </a:bodyPr>
          <a:lstStyle/>
          <a:p>
            <a:pPr algn="ctr" rtl="1"/>
            <a:r>
              <a:rPr sz="2400" b="0">
                <a:solidFill>
                  <a:srgbClr val="DCDCFF"/>
                </a:solidFill>
                <a:latin typeface="Traditional Arabic"/>
                <a:cs typeface="Traditional Arabic"/>
                <a:ea typeface="Traditional Arabic"/>
              </a:rPr>
              <a:t>عرض تقديمي شامل</a:t>
            </a:r>
          </a:p>
        </p:txBody>
      </p:sp>
      <p:sp>
        <p:nvSpPr>
          <p:cNvPr id="5" name="Rectangle 4"/>
          <p:cNvSpPr/>
          <p:nvPr/>
        </p:nvSpPr>
        <p:spPr>
          <a:xfrm>
            <a:off x="4114800" y="3657600"/>
            <a:ext cx="3931920" cy="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960120"/>
          </a:xfrm>
          <a:prstGeom prst="rect">
            <a:avLst/>
          </a:prstGeom>
          <a:noFill/>
        </p:spPr>
        <p:txBody>
          <a:bodyPr wrap="square">
            <a:spAutoFit/>
          </a:bodyPr>
          <a:lstStyle/>
          <a:p>
            <a:pPr algn="r" rtl="1"/>
            <a:r>
              <a:rPr sz="2700" b="1">
                <a:solidFill>
                  <a:srgbClr val="FFFFFF"/>
                </a:solidFill>
                <a:latin typeface="Traditional Arabic"/>
                <a:cs typeface="Traditional Arabic"/>
                <a:ea typeface="Traditional Arabic"/>
              </a:rPr>
              <a:t>المقدمة</a:t>
            </a:r>
          </a:p>
        </p:txBody>
      </p:sp>
      <p:sp>
        <p:nvSpPr>
          <p:cNvPr id="4" name="TextBox 3"/>
          <p:cNvSpPr txBox="1"/>
          <p:nvPr/>
        </p:nvSpPr>
        <p:spPr>
          <a:xfrm>
            <a:off x="457200" y="1417320"/>
            <a:ext cx="11247120" cy="5212080"/>
          </a:xfrm>
          <a:prstGeom prst="rect">
            <a:avLst/>
          </a:prstGeom>
          <a:noFill/>
        </p:spPr>
        <p:txBody>
          <a:bodyPr wrap="square">
            <a:spAutoFit/>
          </a:bodyPr>
          <a:lstStyle/>
          <a:p>
            <a:pPr algn="r" rtl="1">
              <a:spcBef>
                <a:spcPts val="1000"/>
              </a:spcBef>
              <a:spcAft>
                <a:spcPts val="400"/>
              </a:spcAft>
            </a:pPr>
            <a:r>
              <a:rPr sz="2200">
                <a:solidFill>
                  <a:srgbClr val="1A1A2E"/>
                </a:solidFill>
                <a:latin typeface="Traditional Arabic"/>
                <a:cs typeface="Traditional Arabic"/>
                <a:ea typeface="Traditional Arabic"/>
              </a:rPr>
              <a:t>◆ Abstract</a:t>
            </a:r>
          </a:p>
          <a:p>
            <a:pPr algn="r" rtl="1">
              <a:spcBef>
                <a:spcPts val="1000"/>
              </a:spcBef>
              <a:spcAft>
                <a:spcPts val="400"/>
              </a:spcAft>
            </a:pPr>
            <a:r>
              <a:rPr sz="2200">
                <a:solidFill>
                  <a:srgbClr val="1A1A2E"/>
                </a:solidFill>
                <a:latin typeface="Traditional Arabic"/>
                <a:cs typeface="Traditional Arabic"/>
                <a:ea typeface="Traditional Arabic"/>
              </a:rPr>
              <a:t>◆ The rapid growth of e-commerce has significantly transformed consumer purchasing behavior</a:t>
            </a:r>
          </a:p>
          <a:p>
            <a:pPr algn="r" rtl="1">
              <a:spcBef>
                <a:spcPts val="1000"/>
              </a:spcBef>
              <a:spcAft>
                <a:spcPts val="400"/>
              </a:spcAft>
            </a:pPr>
            <a:r>
              <a:rPr sz="2200">
                <a:solidFill>
                  <a:srgbClr val="1A1A2E"/>
                </a:solidFill>
                <a:latin typeface="Traditional Arabic"/>
                <a:cs typeface="Traditional Arabic"/>
                <a:ea typeface="Traditional Arabic"/>
              </a:rPr>
              <a:t>◆ particularly among university students who are highly engaged with digital technologies</a:t>
            </a:r>
          </a:p>
          <a:p>
            <a:pPr algn="r" rtl="1">
              <a:spcBef>
                <a:spcPts val="1000"/>
              </a:spcBef>
              <a:spcAft>
                <a:spcPts val="400"/>
              </a:spcAft>
            </a:pPr>
            <a:r>
              <a:rPr sz="2200">
                <a:solidFill>
                  <a:srgbClr val="1A1A2E"/>
                </a:solidFill>
                <a:latin typeface="Traditional Arabic"/>
                <a:cs typeface="Traditional Arabic"/>
                <a:ea typeface="Traditional Arabic"/>
              </a:rPr>
              <a:t>◆ Despite the increasing use of online shopping platforms in Oman</a:t>
            </a:r>
          </a:p>
          <a:p>
            <a:pPr algn="r" rtl="1">
              <a:spcBef>
                <a:spcPts val="1000"/>
              </a:spcBef>
              <a:spcAft>
                <a:spcPts val="400"/>
              </a:spcAft>
            </a:pPr>
            <a:r>
              <a:rPr sz="2200">
                <a:solidFill>
                  <a:srgbClr val="1A1A2E"/>
                </a:solidFill>
                <a:latin typeface="Traditional Arabic"/>
                <a:cs typeface="Traditional Arabic"/>
                <a:ea typeface="Traditional Arabic"/>
              </a:rPr>
              <a:t>◆ limited research has examined how consumer motivation influences online shopping behavior</a:t>
            </a:r>
          </a:p>
        </p:txBody>
      </p:sp>
      <p:sp>
        <p:nvSpPr>
          <p:cNvPr id="5" name="TextBox 4"/>
          <p:cNvSpPr txBox="1"/>
          <p:nvPr/>
        </p:nvSpPr>
        <p:spPr>
          <a:xfrm>
            <a:off x="11521440" y="6309360"/>
            <a:ext cx="640080" cy="457200"/>
          </a:xfrm>
          <a:prstGeom prst="rect">
            <a:avLst/>
          </a:prstGeom>
          <a:noFill/>
        </p:spPr>
        <p:txBody>
          <a:bodyPr wrap="none">
            <a:spAutoFit/>
          </a:bodyPr>
          <a:lstStyle/>
          <a:p>
            <a:pPr algn="ctr"/>
            <a:r>
              <a:rPr sz="1100">
                <a:solidFill>
                  <a:srgbClr val="764BA2"/>
                </a:solidFil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960120"/>
          </a:xfrm>
          <a:prstGeom prst="rect">
            <a:avLst/>
          </a:prstGeom>
          <a:noFill/>
        </p:spPr>
        <p:txBody>
          <a:bodyPr wrap="square">
            <a:spAutoFit/>
          </a:bodyPr>
          <a:lstStyle/>
          <a:p>
            <a:pPr algn="r" rtl="1"/>
            <a:r>
              <a:rPr sz="2700" b="1">
                <a:solidFill>
                  <a:srgbClr val="FFFFFF"/>
                </a:solidFill>
                <a:latin typeface="Traditional Arabic"/>
                <a:cs typeface="Traditional Arabic"/>
                <a:ea typeface="Traditional Arabic"/>
              </a:rPr>
              <a:t>المحتوى الرئيسي</a:t>
            </a:r>
          </a:p>
        </p:txBody>
      </p:sp>
      <p:sp>
        <p:nvSpPr>
          <p:cNvPr id="4" name="TextBox 3"/>
          <p:cNvSpPr txBox="1"/>
          <p:nvPr/>
        </p:nvSpPr>
        <p:spPr>
          <a:xfrm>
            <a:off x="457200" y="1417320"/>
            <a:ext cx="11247120" cy="5212080"/>
          </a:xfrm>
          <a:prstGeom prst="rect">
            <a:avLst/>
          </a:prstGeom>
          <a:noFill/>
        </p:spPr>
        <p:txBody>
          <a:bodyPr wrap="square">
            <a:spAutoFit/>
          </a:bodyPr>
          <a:lstStyle/>
          <a:p>
            <a:pPr algn="r" rtl="1">
              <a:spcBef>
                <a:spcPts val="1000"/>
              </a:spcBef>
              <a:spcAft>
                <a:spcPts val="400"/>
              </a:spcAft>
            </a:pPr>
            <a:r>
              <a:rPr sz="2200">
                <a:solidFill>
                  <a:srgbClr val="1A1A2E"/>
                </a:solidFill>
                <a:latin typeface="Traditional Arabic"/>
                <a:cs typeface="Traditional Arabic"/>
                <a:ea typeface="Traditional Arabic"/>
              </a:rPr>
              <a:t>◆ It examines how consumer motivation shapes online shopping patterns by exploring the psychological factors that influenc</a:t>
            </a:r>
          </a:p>
          <a:p>
            <a:pPr algn="r" rtl="1">
              <a:spcBef>
                <a:spcPts val="1000"/>
              </a:spcBef>
              <a:spcAft>
                <a:spcPts val="400"/>
              </a:spcAft>
            </a:pPr>
            <a:r>
              <a:rPr sz="2200">
                <a:solidFill>
                  <a:srgbClr val="1A1A2E"/>
                </a:solidFill>
                <a:latin typeface="Traditional Arabic"/>
                <a:cs typeface="Traditional Arabic"/>
                <a:ea typeface="Traditional Arabic"/>
              </a:rPr>
              <a:t>◆ The findings of this study are expected to benefit multiple stakeholders</a:t>
            </a:r>
          </a:p>
          <a:p>
            <a:pPr algn="r" rtl="1">
              <a:spcBef>
                <a:spcPts val="1000"/>
              </a:spcBef>
              <a:spcAft>
                <a:spcPts val="400"/>
              </a:spcAft>
            </a:pPr>
            <a:r>
              <a:rPr sz="2200">
                <a:solidFill>
                  <a:srgbClr val="1A1A2E"/>
                </a:solidFill>
                <a:latin typeface="Traditional Arabic"/>
                <a:cs typeface="Traditional Arabic"/>
                <a:ea typeface="Traditional Arabic"/>
              </a:rPr>
              <a:t>◆ Online retailers and marketers can use the results to better understand the motivations that influence university studen</a:t>
            </a:r>
          </a:p>
          <a:p>
            <a:pPr algn="r" rtl="1">
              <a:spcBef>
                <a:spcPts val="1000"/>
              </a:spcBef>
              <a:spcAft>
                <a:spcPts val="400"/>
              </a:spcAft>
            </a:pPr>
            <a:r>
              <a:rPr sz="2200">
                <a:solidFill>
                  <a:srgbClr val="1A1A2E"/>
                </a:solidFill>
                <a:latin typeface="Traditional Arabic"/>
                <a:cs typeface="Traditional Arabic"/>
                <a:ea typeface="Traditional Arabic"/>
              </a:rPr>
              <a:t>◆ enabling them to design more effective marketing strategies and promotional campaigns</a:t>
            </a:r>
          </a:p>
          <a:p>
            <a:pPr algn="r" rtl="1">
              <a:spcBef>
                <a:spcPts val="1000"/>
              </a:spcBef>
              <a:spcAft>
                <a:spcPts val="400"/>
              </a:spcAft>
            </a:pPr>
            <a:r>
              <a:rPr sz="2200">
                <a:solidFill>
                  <a:srgbClr val="1A1A2E"/>
                </a:solidFill>
                <a:latin typeface="Traditional Arabic"/>
                <a:cs typeface="Traditional Arabic"/>
                <a:ea typeface="Traditional Arabic"/>
              </a:rPr>
              <a:t>◆ In addition</a:t>
            </a:r>
          </a:p>
        </p:txBody>
      </p:sp>
      <p:sp>
        <p:nvSpPr>
          <p:cNvPr id="5" name="TextBox 4"/>
          <p:cNvSpPr txBox="1"/>
          <p:nvPr/>
        </p:nvSpPr>
        <p:spPr>
          <a:xfrm>
            <a:off x="11521440" y="6309360"/>
            <a:ext cx="640080" cy="457200"/>
          </a:xfrm>
          <a:prstGeom prst="rect">
            <a:avLst/>
          </a:prstGeom>
          <a:noFill/>
        </p:spPr>
        <p:txBody>
          <a:bodyPr wrap="none">
            <a:spAutoFit/>
          </a:bodyPr>
          <a:lstStyle/>
          <a:p>
            <a:pPr algn="ctr"/>
            <a:r>
              <a:rPr sz="1100">
                <a:solidFill>
                  <a:srgbClr val="764BA2"/>
                </a:solidFil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960120"/>
          </a:xfrm>
          <a:prstGeom prst="rect">
            <a:avLst/>
          </a:prstGeom>
          <a:noFill/>
        </p:spPr>
        <p:txBody>
          <a:bodyPr wrap="square">
            <a:spAutoFit/>
          </a:bodyPr>
          <a:lstStyle/>
          <a:p>
            <a:pPr algn="r" rtl="1"/>
            <a:r>
              <a:rPr sz="2700" b="1">
                <a:solidFill>
                  <a:srgbClr val="FFFFFF"/>
                </a:solidFill>
                <a:latin typeface="Traditional Arabic"/>
                <a:cs typeface="Traditional Arabic"/>
                <a:ea typeface="Traditional Arabic"/>
              </a:rPr>
              <a:t>التفاصيل</a:t>
            </a:r>
          </a:p>
        </p:txBody>
      </p:sp>
      <p:sp>
        <p:nvSpPr>
          <p:cNvPr id="4" name="TextBox 3"/>
          <p:cNvSpPr txBox="1"/>
          <p:nvPr/>
        </p:nvSpPr>
        <p:spPr>
          <a:xfrm>
            <a:off x="457200" y="1417320"/>
            <a:ext cx="11247120" cy="5212080"/>
          </a:xfrm>
          <a:prstGeom prst="rect">
            <a:avLst/>
          </a:prstGeom>
          <a:noFill/>
        </p:spPr>
        <p:txBody>
          <a:bodyPr wrap="square">
            <a:spAutoFit/>
          </a:bodyPr>
          <a:lstStyle/>
          <a:p>
            <a:pPr algn="r" rtl="1">
              <a:spcBef>
                <a:spcPts val="1000"/>
              </a:spcBef>
              <a:spcAft>
                <a:spcPts val="400"/>
              </a:spcAft>
            </a:pPr>
            <a:r>
              <a:rPr sz="2200">
                <a:solidFill>
                  <a:srgbClr val="1A1A2E"/>
                </a:solidFill>
                <a:latin typeface="Traditional Arabic"/>
                <a:cs typeface="Traditional Arabic"/>
                <a:ea typeface="Traditional Arabic"/>
              </a:rPr>
              <a:t>◆ convenient</a:t>
            </a:r>
          </a:p>
          <a:p>
            <a:pPr algn="r" rtl="1">
              <a:spcBef>
                <a:spcPts val="1000"/>
              </a:spcBef>
              <a:spcAft>
                <a:spcPts val="400"/>
              </a:spcAft>
            </a:pPr>
            <a:r>
              <a:rPr sz="2200">
                <a:solidFill>
                  <a:srgbClr val="1A1A2E"/>
                </a:solidFill>
                <a:latin typeface="Traditional Arabic"/>
                <a:cs typeface="Traditional Arabic"/>
                <a:ea typeface="Traditional Arabic"/>
              </a:rPr>
              <a:t>◆ and efficient are more likely to engage in online purchasing behavior</a:t>
            </a:r>
          </a:p>
          <a:p>
            <a:pPr algn="r" rtl="1">
              <a:spcBef>
                <a:spcPts val="1000"/>
              </a:spcBef>
              <a:spcAft>
                <a:spcPts val="400"/>
              </a:spcAft>
            </a:pPr>
            <a:r>
              <a:rPr sz="2200">
                <a:solidFill>
                  <a:srgbClr val="1A1A2E"/>
                </a:solidFill>
                <a:latin typeface="Traditional Arabic"/>
                <a:cs typeface="Traditional Arabic"/>
                <a:ea typeface="Traditional Arabic"/>
              </a:rPr>
              <a:t>◆ Positive attitudes toward online retail environments encourage consumers to adopt e-commerce platforms as part of their </a:t>
            </a:r>
          </a:p>
          <a:p>
            <a:pPr algn="r" rtl="1">
              <a:spcBef>
                <a:spcPts val="1000"/>
              </a:spcBef>
              <a:spcAft>
                <a:spcPts val="400"/>
              </a:spcAft>
            </a:pPr>
            <a:r>
              <a:rPr sz="2200">
                <a:solidFill>
                  <a:srgbClr val="1A1A2E"/>
                </a:solidFill>
                <a:latin typeface="Traditional Arabic"/>
                <a:cs typeface="Traditional Arabic"/>
                <a:ea typeface="Traditional Arabic"/>
              </a:rPr>
              <a:t>◆ Advantages of online shopping platforms</a:t>
            </a:r>
          </a:p>
          <a:p>
            <a:pPr algn="r" rtl="1">
              <a:spcBef>
                <a:spcPts val="1000"/>
              </a:spcBef>
              <a:spcAft>
                <a:spcPts val="400"/>
              </a:spcAft>
            </a:pPr>
            <a:r>
              <a:rPr sz="2200">
                <a:solidFill>
                  <a:srgbClr val="1A1A2E"/>
                </a:solidFill>
                <a:latin typeface="Traditional Arabic"/>
                <a:cs typeface="Traditional Arabic"/>
                <a:ea typeface="Traditional Arabic"/>
              </a:rPr>
              <a:t>◆ Online shopping platforms provide consumers with numerous advantages compared to traditional retail stores (Laudon &amp; Tra</a:t>
            </a:r>
          </a:p>
        </p:txBody>
      </p:sp>
      <p:sp>
        <p:nvSpPr>
          <p:cNvPr id="5" name="TextBox 4"/>
          <p:cNvSpPr txBox="1"/>
          <p:nvPr/>
        </p:nvSpPr>
        <p:spPr>
          <a:xfrm>
            <a:off x="11521440" y="6309360"/>
            <a:ext cx="640080" cy="457200"/>
          </a:xfrm>
          <a:prstGeom prst="rect">
            <a:avLst/>
          </a:prstGeom>
          <a:noFill/>
        </p:spPr>
        <p:txBody>
          <a:bodyPr wrap="none">
            <a:spAutoFit/>
          </a:bodyPr>
          <a:lstStyle/>
          <a:p>
            <a:pPr algn="ctr"/>
            <a:r>
              <a:rPr sz="1100">
                <a:solidFill>
                  <a:srgbClr val="764BA2"/>
                </a:solidFil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960120"/>
          </a:xfrm>
          <a:prstGeom prst="rect">
            <a:avLst/>
          </a:prstGeom>
          <a:noFill/>
        </p:spPr>
        <p:txBody>
          <a:bodyPr wrap="square">
            <a:spAutoFit/>
          </a:bodyPr>
          <a:lstStyle/>
          <a:p>
            <a:pPr algn="r" rtl="1"/>
            <a:r>
              <a:rPr sz="2700" b="1">
                <a:solidFill>
                  <a:srgbClr val="FFFFFF"/>
                </a:solidFill>
                <a:latin typeface="Traditional Arabic"/>
                <a:cs typeface="Traditional Arabic"/>
                <a:ea typeface="Traditional Arabic"/>
              </a:rPr>
              <a:t>النتائج</a:t>
            </a:r>
          </a:p>
        </p:txBody>
      </p:sp>
      <p:sp>
        <p:nvSpPr>
          <p:cNvPr id="4" name="TextBox 3"/>
          <p:cNvSpPr txBox="1"/>
          <p:nvPr/>
        </p:nvSpPr>
        <p:spPr>
          <a:xfrm>
            <a:off x="457200" y="1417320"/>
            <a:ext cx="11247120" cy="5212080"/>
          </a:xfrm>
          <a:prstGeom prst="rect">
            <a:avLst/>
          </a:prstGeom>
          <a:noFill/>
        </p:spPr>
        <p:txBody>
          <a:bodyPr wrap="square">
            <a:spAutoFit/>
          </a:bodyPr>
          <a:lstStyle/>
          <a:p>
            <a:pPr algn="r" rtl="1">
              <a:spcBef>
                <a:spcPts val="1000"/>
              </a:spcBef>
              <a:spcAft>
                <a:spcPts val="400"/>
              </a:spcAft>
            </a:pPr>
            <a:r>
              <a:rPr sz="2200">
                <a:solidFill>
                  <a:srgbClr val="1A1A2E"/>
                </a:solidFill>
                <a:latin typeface="Traditional Arabic"/>
                <a:cs typeface="Traditional Arabic"/>
                <a:ea typeface="Traditional Arabic"/>
              </a:rPr>
              <a:t>◆ and make purchases from virtually any location</a:t>
            </a:r>
          </a:p>
          <a:p>
            <a:pPr algn="r" rtl="1">
              <a:spcBef>
                <a:spcPts val="1000"/>
              </a:spcBef>
              <a:spcAft>
                <a:spcPts val="400"/>
              </a:spcAft>
            </a:pPr>
            <a:r>
              <a:rPr sz="2200">
                <a:solidFill>
                  <a:srgbClr val="1A1A2E"/>
                </a:solidFill>
                <a:latin typeface="Traditional Arabic"/>
                <a:cs typeface="Traditional Arabic"/>
                <a:ea typeface="Traditional Arabic"/>
              </a:rPr>
              <a:t>◆ According to Raji et al</a:t>
            </a:r>
          </a:p>
          <a:p>
            <a:pPr algn="r" rtl="1">
              <a:spcBef>
                <a:spcPts val="1000"/>
              </a:spcBef>
              <a:spcAft>
                <a:spcPts val="400"/>
              </a:spcAft>
            </a:pPr>
            <a:r>
              <a:rPr sz="2200">
                <a:solidFill>
                  <a:srgbClr val="1A1A2E"/>
                </a:solidFill>
                <a:latin typeface="Traditional Arabic"/>
                <a:cs typeface="Traditional Arabic"/>
                <a:ea typeface="Traditional Arabic"/>
              </a:rPr>
              <a:t>◆ (2023)</a:t>
            </a:r>
          </a:p>
          <a:p>
            <a:pPr algn="r" rtl="1">
              <a:spcBef>
                <a:spcPts val="1000"/>
              </a:spcBef>
              <a:spcAft>
                <a:spcPts val="400"/>
              </a:spcAft>
            </a:pPr>
            <a:r>
              <a:rPr sz="2200">
                <a:solidFill>
                  <a:srgbClr val="1A1A2E"/>
                </a:solidFill>
                <a:latin typeface="Traditional Arabic"/>
                <a:cs typeface="Traditional Arabic"/>
                <a:ea typeface="Traditional Arabic"/>
              </a:rPr>
              <a:t>◆ technological advancements and artificial intelligence tools have enhanced the online shopping experience by improving p</a:t>
            </a:r>
          </a:p>
          <a:p>
            <a:pPr algn="r" rtl="1">
              <a:spcBef>
                <a:spcPts val="1000"/>
              </a:spcBef>
              <a:spcAft>
                <a:spcPts val="400"/>
              </a:spcAft>
            </a:pPr>
            <a:r>
              <a:rPr sz="2200">
                <a:solidFill>
                  <a:srgbClr val="1A1A2E"/>
                </a:solidFill>
                <a:latin typeface="Traditional Arabic"/>
                <a:cs typeface="Traditional Arabic"/>
                <a:ea typeface="Traditional Arabic"/>
              </a:rPr>
              <a:t>◆ These developments increase consumer engagement and encourage users to interact more frequently with digital retail plat</a:t>
            </a:r>
          </a:p>
        </p:txBody>
      </p:sp>
      <p:sp>
        <p:nvSpPr>
          <p:cNvPr id="5" name="TextBox 4"/>
          <p:cNvSpPr txBox="1"/>
          <p:nvPr/>
        </p:nvSpPr>
        <p:spPr>
          <a:xfrm>
            <a:off x="11521440" y="6309360"/>
            <a:ext cx="640080" cy="457200"/>
          </a:xfrm>
          <a:prstGeom prst="rect">
            <a:avLst/>
          </a:prstGeom>
          <a:noFill/>
        </p:spPr>
        <p:txBody>
          <a:bodyPr wrap="none">
            <a:spAutoFit/>
          </a:bodyPr>
          <a:lstStyle/>
          <a:p>
            <a:pPr algn="ctr"/>
            <a:r>
              <a:rPr sz="1100">
                <a:solidFill>
                  <a:srgbClr val="764BA2"/>
                </a:solidFil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764BA2"/>
        </a:solidFill>
        <a:effectLst/>
      </p:bgPr>
    </p:bg>
    <p:spTree>
      <p:nvGrpSpPr>
        <p:cNvPr id="1" name=""/>
        <p:cNvGrpSpPr/>
        <p:nvPr/>
      </p:nvGrpSpPr>
      <p:grpSpPr/>
      <p:sp>
        <p:nvSpPr>
          <p:cNvPr id="2" name="TextBox 1"/>
          <p:cNvSpPr txBox="1"/>
          <p:nvPr/>
        </p:nvSpPr>
        <p:spPr>
          <a:xfrm>
            <a:off x="914400" y="1371600"/>
            <a:ext cx="10332720" cy="1097280"/>
          </a:xfrm>
          <a:prstGeom prst="rect">
            <a:avLst/>
          </a:prstGeom>
          <a:noFill/>
        </p:spPr>
        <p:txBody>
          <a:bodyPr wrap="square">
            <a:spAutoFit/>
          </a:bodyPr>
          <a:lstStyle/>
          <a:p>
            <a:pPr algn="ctr" rtl="1"/>
            <a:r>
              <a:rPr sz="3600" b="1">
                <a:solidFill>
                  <a:srgbClr val="FFFFFF"/>
                </a:solidFill>
                <a:latin typeface="Traditional Arabic"/>
                <a:cs typeface="Traditional Arabic"/>
                <a:ea typeface="Traditional Arabic"/>
              </a:rPr>
              <a:t>الخلاصة والتوصيات</a:t>
            </a:r>
          </a:p>
        </p:txBody>
      </p:sp>
      <p:sp>
        <p:nvSpPr>
          <p:cNvPr id="3" name="Rectangle 2"/>
          <p:cNvSpPr/>
          <p:nvPr/>
        </p:nvSpPr>
        <p:spPr>
          <a:xfrm>
            <a:off x="3200400" y="2651760"/>
            <a:ext cx="5760720" cy="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926080"/>
            <a:ext cx="9418320" cy="3657600"/>
          </a:xfrm>
          <a:prstGeom prst="rect">
            <a:avLst/>
          </a:prstGeom>
          <a:noFill/>
        </p:spPr>
        <p:txBody>
          <a:bodyPr wrap="square">
            <a:spAutoFit/>
          </a:bodyPr>
          <a:lstStyle/>
          <a:p>
            <a:pPr algn="r" rtl="1">
              <a:spcBef>
                <a:spcPts val="1200"/>
              </a:spcBef>
            </a:pPr>
            <a:r>
              <a:rPr sz="2200">
                <a:solidFill>
                  <a:srgbClr val="DCDCFF"/>
                </a:solidFill>
                <a:latin typeface="Traditional Arabic"/>
                <a:cs typeface="Traditional Arabic"/>
                <a:ea typeface="Traditional Arabic"/>
              </a:rPr>
              <a:t>✅ the study contributes to the growing body of research on e-commerce in Oman by providing c</a:t>
            </a:r>
          </a:p>
          <a:p>
            <a:pPr algn="r" rtl="1">
              <a:spcBef>
                <a:spcPts val="1200"/>
              </a:spcBef>
            </a:pPr>
            <a:r>
              <a:rPr sz="2200">
                <a:solidFill>
                  <a:srgbClr val="DCDCFF"/>
                </a:solidFill>
                <a:latin typeface="Traditional Arabic"/>
                <a:cs typeface="Traditional Arabic"/>
                <a:ea typeface="Traditional Arabic"/>
              </a:rPr>
              <a:t>📌 نرحب بأسئلتكم واستفساراتكم</a:t>
            </a:r>
          </a:p>
          <a:p>
            <a:pPr algn="r" rtl="1">
              <a:spcBef>
                <a:spcPts val="1200"/>
              </a:spcBef>
            </a:pPr>
            <a:r>
              <a:rPr sz="2200">
                <a:solidFill>
                  <a:srgbClr val="DCDCFF"/>
                </a:solidFill>
                <a:latin typeface="Traditional Arabic"/>
                <a:cs typeface="Traditional Arabic"/>
                <a:ea typeface="Traditional Arabic"/>
              </a:rPr>
              <a:t>🙏 شكراً لاهتمامكم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